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5029200" cy="4114800"/>
          </a:xfrm>
          <a:prstGeom prst="ellipse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365760"/>
            <a:ext cx="4114800" cy="3200400"/>
          </a:xfrm>
          <a:prstGeom prst="ellipse">
            <a:avLst/>
          </a:prstGeom>
          <a:solidFill>
            <a:srgbClr val="0C4A6E">
              <a:alpha val="35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200400"/>
            <a:ext cx="3657600" cy="2743200"/>
          </a:xfrm>
          <a:prstGeom prst="ellipse">
            <a:avLst/>
          </a:prstGeom>
          <a:solidFill>
            <a:srgbClr val="831843">
              <a:alpha val="30000"/>
            </a:srgbClr>
          </a:solidFill>
          <a:ln w="12700">
            <a:solidFill>
              <a:srgbClr val="831843">
                <a:alpha val="0"/>
              </a:srgbClr>
            </a:solidFill>
            <a:prstDash val="solid"/>
          </a:ln>
        </p:spPr>
      </p:sp>
      <p:pic>
        <p:nvPicPr>
          <p:cNvPr id="5" name="Image 0" descr="/sessions/youthful-confident-johnson/screens/01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02920"/>
            <a:ext cx="3977640" cy="420624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937760" y="502920"/>
            <a:ext cx="397764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84124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841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</a:rPr>
              <a:t>DESIGN BRIEFING  · 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คู่มืออธิบาย Component ทุกส่วน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พร้อมภาพตัวอย่างจริงจากเว็บไซต์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4096512"/>
            <a:ext cx="2560320" cy="16459"/>
          </a:xfrm>
          <a:prstGeom prst="rect">
            <a:avLst/>
          </a:prstGeom>
          <a:solidFill>
            <a:srgbClr val="7C6FF7">
              <a:alpha val="62000"/>
            </a:srgbClr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297680"/>
            <a:ext cx="1234440" cy="621792"/>
          </a:xfrm>
          <a:prstGeom prst="rect">
            <a:avLst/>
          </a:prstGeom>
          <a:solidFill>
            <a:srgbClr val="0E0C22">
              <a:alpha val="88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43159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4590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874520" y="4297680"/>
            <a:ext cx="1234440" cy="621792"/>
          </a:xfrm>
          <a:prstGeom prst="rect">
            <a:avLst/>
          </a:prstGeom>
          <a:solidFill>
            <a:srgbClr val="0E0C22">
              <a:alpha val="88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874520" y="43159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874520" y="4590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91840" y="4297680"/>
            <a:ext cx="1234440" cy="621792"/>
          </a:xfrm>
          <a:prstGeom prst="rect">
            <a:avLst/>
          </a:prstGeom>
          <a:solidFill>
            <a:srgbClr val="0E0C22">
              <a:alpha val="88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91840" y="43159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291840" y="4590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3657600"/>
          </a:xfrm>
          <a:prstGeom prst="ellipse">
            <a:avLst/>
          </a:prstGeom>
          <a:solidFill>
            <a:srgbClr val="4C1D95">
              <a:alpha val="3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โครงสร้างเว็บไซต์ทั้งหมด</a:t>
            </a:r>
            <a:endParaRPr lang="en-US" sz="3000" dirty="0"/>
          </a:p>
        </p:txBody>
      </p:sp>
      <p:pic>
        <p:nvPicPr>
          <p:cNvPr id="5" name="Image 0" descr="/sessions/youthful-confident-johnson/screens/01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352044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234440"/>
            <a:ext cx="5120640" cy="3520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6440" y="1234440"/>
            <a:ext cx="2880360" cy="804672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234440"/>
            <a:ext cx="50292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307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glass pill ลอยอยู่ด้านบน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ไม่ชิดขอบ มี border-radius: 20px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06440" y="2194560"/>
            <a:ext cx="2880360" cy="804672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2194560"/>
            <a:ext cx="50292" cy="804672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gradient + 3 floating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cards พร้อม depth effect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6440" y="3154680"/>
            <a:ext cx="2880360" cy="804672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06440" y="3154680"/>
            <a:ext cx="50292" cy="804672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27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layout + 3 feature cards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 glassmorphism border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06440" y="4114800"/>
            <a:ext cx="2880360" cy="804672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4114800"/>
            <a:ext cx="50292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4187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89320" y="4480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island ไม่ชิดขอบ margin 16px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+ badges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36576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NAVIGATION BAR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Glass Pill</a:t>
            </a:r>
            <a:endParaRPr lang="en-US" sz="3000" dirty="0"/>
          </a:p>
        </p:txBody>
      </p:sp>
      <p:pic>
        <p:nvPicPr>
          <p:cNvPr id="5" name="Image 0" descr="/sessions/youthful-confident-johnson/screens/02_nav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00584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304288"/>
            <a:ext cx="0" cy="256032"/>
          </a:xfrm>
          <a:prstGeom prst="line">
            <a:avLst/>
          </a:prstGeom>
          <a:noFill/>
          <a:ln w="12700">
            <a:solidFill>
              <a:srgbClr val="22D3EE">
                <a:alpha val="70000"/>
              </a:srgbClr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85800" y="2606040"/>
            <a:ext cx="2011680" cy="9144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606040"/>
            <a:ext cx="5029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โลโก้ Brand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0392" y="29626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→ cyan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0" y="2304288"/>
            <a:ext cx="0" cy="256032"/>
          </a:xfrm>
          <a:prstGeom prst="line">
            <a:avLst/>
          </a:prstGeom>
          <a:noFill/>
          <a:ln w="12700">
            <a:solidFill>
              <a:srgbClr val="22D3EE">
                <a:alpha val="70000"/>
              </a:srgbClr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840480" y="2606040"/>
            <a:ext cx="2011680" cy="9144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0" y="2606040"/>
            <a:ext cx="5029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05072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05072" y="29626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รายการ มี active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highlight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78040" y="2304288"/>
            <a:ext cx="0" cy="256032"/>
          </a:xfrm>
          <a:prstGeom prst="line">
            <a:avLst/>
          </a:prstGeom>
          <a:noFill/>
          <a:ln w="12700">
            <a:solidFill>
              <a:srgbClr val="22D3EE">
                <a:alpha val="70000"/>
              </a:srgbClr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903720" y="2606040"/>
            <a:ext cx="2011680" cy="9144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03720" y="2606040"/>
            <a:ext cx="5029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68312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+ CTA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68312" y="29626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animation toggle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glow button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749040"/>
            <a:ext cx="50292" cy="10972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fixed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792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ลอยอยู่ด้านบนตลอด ไม่เลื่อนตาม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20px  max-width: 1100px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33472" y="37490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633472" y="3749040"/>
            <a:ext cx="5029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98064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20px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98064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ทรง capsule pill shape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ไม่ชิดขอบซ้าย-ขวา (margin 24px)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09744" y="37490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9744" y="3749040"/>
            <a:ext cx="50292" cy="109728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74336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Darkening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74336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 &gt; 40px → bg เข้มขึ้น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rg(10,8,30, 0.72) อ่านง่ายขึ้น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986016" y="37490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986016" y="3749040"/>
            <a:ext cx="50292" cy="10972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50608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50608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blur(24px) saturate(160%)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frosted glass effect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831843">
              <a:alpha val="32000"/>
            </a:srgbClr>
          </a:solidFill>
          <a:ln w="12700">
            <a:solidFill>
              <a:srgbClr val="8318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HERO SECTION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Depth Experience</a:t>
            </a:r>
            <a:endParaRPr lang="en-US" sz="3000" dirty="0"/>
          </a:p>
        </p:txBody>
      </p:sp>
      <p:pic>
        <p:nvPicPr>
          <p:cNvPr id="5" name="Image 0" descr="/sessions/youthful-confident-johnson/screens/03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54880" cy="356616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188720"/>
            <a:ext cx="4754880" cy="3566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79A6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94960" y="1188720"/>
            <a:ext cx="333756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1188720"/>
            <a:ext cx="5029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9552" y="1344168"/>
            <a:ext cx="329184" cy="329184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1261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Badge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36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badge พร้อม animated dot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สีฟ้า pulse 2s infinite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94960" y="1965960"/>
            <a:ext cx="333756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1965960"/>
            <a:ext cx="50292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59552" y="2121408"/>
            <a:ext cx="329184" cy="329184"/>
          </a:xfrm>
          <a:prstGeom prst="ellipse">
            <a:avLst/>
          </a:prstGeom>
          <a:solidFill>
            <a:srgbClr val="7C6FF7">
              <a:alpha val="45000"/>
            </a:srgbClr>
          </a:solidFill>
          <a:ln w="12700">
            <a:solidFill>
              <a:srgbClr val="7C6FF7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59552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20391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Headline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clamp(42px→80px) weight 800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→ violet → cyan gradient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94960" y="2743200"/>
            <a:ext cx="333756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2743200"/>
            <a:ext cx="50292" cy="658368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59552" y="2898648"/>
            <a:ext cx="329184" cy="329184"/>
          </a:xfrm>
          <a:prstGeom prst="ellipse">
            <a:avLst/>
          </a:prstGeom>
          <a:solidFill>
            <a:srgbClr val="E879A6">
              <a:alpha val="45000"/>
            </a:srgbClr>
          </a:solidFill>
          <a:ln w="12700">
            <a:solidFill>
              <a:srgbClr val="E879A6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9552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89320" y="2816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8932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violet glow shadow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glass button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94960" y="3520440"/>
            <a:ext cx="333756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94960" y="3520440"/>
            <a:ext cx="50292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59552" y="3675888"/>
            <a:ext cx="329184" cy="329184"/>
          </a:xfrm>
          <a:prstGeom prst="ellipse">
            <a:avLst/>
          </a:prstGeom>
          <a:solidFill>
            <a:srgbClr val="7C6FF7">
              <a:alpha val="45000"/>
            </a:srgbClr>
          </a:solidFill>
          <a:ln w="12700">
            <a:solidFill>
              <a:srgbClr val="7C6FF7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59552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89320" y="35935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Floating Cards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89320" y="3867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cards offset -20px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Z-depth illusion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94960" y="4297680"/>
            <a:ext cx="333756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394960" y="4297680"/>
            <a:ext cx="5029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59552" y="4453128"/>
            <a:ext cx="329184" cy="329184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59552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89320" y="43708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Hint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989320" y="4645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bounce ค่อยๆ เต้น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user ให้ scroll ลง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4572000" cy="4114800"/>
          </a:xfrm>
          <a:prstGeom prst="ellipse">
            <a:avLst/>
          </a:prstGeom>
          <a:solidFill>
            <a:srgbClr val="4C1D95">
              <a:alpha val="3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HERO SECTION (ต่อ)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4 Layer ของ Hero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6576" cy="7772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8092440" cy="777240"/>
          </a:xfrm>
          <a:prstGeom prst="rect">
            <a:avLst/>
          </a:prstGeom>
          <a:solidFill>
            <a:srgbClr val="4C1D95">
              <a:alpha val="38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444752"/>
            <a:ext cx="347472" cy="347472"/>
          </a:xfrm>
          <a:prstGeom prst="ellipse">
            <a:avLst/>
          </a:prstGeom>
          <a:solidFill>
            <a:srgbClr val="7C6FF7">
              <a:alpha val="72000"/>
            </a:srgbClr>
          </a:solidFill>
          <a:ln w="12700">
            <a:solidFill>
              <a:srgbClr val="7C6FF7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3533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Background Layer — ลึกสุด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16459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bg-mesh: 4 × radial-gradient เบลนสี violet / cyan / pink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อนิเมชัน float + mouse parallax เคลื่อนไหวตาม cursor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36576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67128"/>
            <a:ext cx="8092440" cy="777240"/>
          </a:xfrm>
          <a:prstGeom prst="rect">
            <a:avLst/>
          </a:prstGeom>
          <a:solidFill>
            <a:srgbClr val="0C4A6E">
              <a:alpha val="38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2331720"/>
            <a:ext cx="347472" cy="347472"/>
          </a:xfrm>
          <a:prstGeom prst="ellipse">
            <a:avLst/>
          </a:prstGeom>
          <a:solidFill>
            <a:srgbClr val="22D3EE">
              <a:alpha val="72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22402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Mesh Overlay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25328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gradient blending ทับด้านบน background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ambient glow effect ให้รู้สึกว่ามีแสงส่องอยู่ภายใน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054096"/>
            <a:ext cx="36576" cy="7772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54096"/>
            <a:ext cx="8092440" cy="777240"/>
          </a:xfrm>
          <a:prstGeom prst="rect">
            <a:avLst/>
          </a:prstGeom>
          <a:solidFill>
            <a:srgbClr val="3D2E8C">
              <a:alpha val="38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" y="3218688"/>
            <a:ext cx="347472" cy="347472"/>
          </a:xfrm>
          <a:prstGeom prst="ellipse">
            <a:avLst/>
          </a:prstGeom>
          <a:solidFill>
            <a:srgbClr val="7C6FF7">
              <a:alpha val="72000"/>
            </a:srgbClr>
          </a:solidFill>
          <a:ln w="12700">
            <a:solidFill>
              <a:srgbClr val="7C6FF7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" y="31272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Content Layer — Hero Text &amp; Buttons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4198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badge → gradient headline → sub copy → CTA buttons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element อยู่บน z-index: 1 เหนือ background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941064"/>
            <a:ext cx="36576" cy="7772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941064"/>
            <a:ext cx="8092440" cy="777240"/>
          </a:xfrm>
          <a:prstGeom prst="rect">
            <a:avLst/>
          </a:prstGeom>
          <a:solidFill>
            <a:srgbClr val="831843">
              <a:alpha val="38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4105656"/>
            <a:ext cx="347472" cy="347472"/>
          </a:xfrm>
          <a:prstGeom prst="ellipse">
            <a:avLst/>
          </a:prstGeom>
          <a:solidFill>
            <a:srgbClr val="E879A6">
              <a:alpha val="72000"/>
            </a:srgbClr>
          </a:solidFill>
          <a:ln w="12700">
            <a:solidFill>
              <a:srgbClr val="E879A6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40142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·  Floating Cards — หน้าสุด (Front)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" y="43068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glass cards วางชิดกัน แต่ offset Y = -20px บนไพ่กลาง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illusion ความลึก (Z-depth) แบบ 3D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4572000" cy="4114800"/>
          </a:xfrm>
          <a:prstGeom prst="ellipse">
            <a:avLst/>
          </a:prstGeom>
          <a:solidFill>
            <a:srgbClr val="4C1D95">
              <a:alpha val="3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FEATURES SECTION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&amp; Split Layout</a:t>
            </a:r>
            <a:endParaRPr lang="en-US" sz="3000" dirty="0"/>
          </a:p>
        </p:txBody>
      </p:sp>
      <p:pic>
        <p:nvPicPr>
          <p:cNvPr id="5" name="Image 0" descr="/sessions/youthful-confident-johnson/screens/04_feat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60604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9776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977640"/>
            <a:ext cx="50292" cy="10972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Layout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4343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2 คอลัมน์ — ซ้าย: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ขวา: visual glass card mockup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33472" y="39776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33472" y="3977640"/>
            <a:ext cx="5029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8064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 x3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8064" y="4343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glass cards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badge + h3 + description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09744" y="39776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9744" y="3977640"/>
            <a:ext cx="50292" cy="109728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74336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Badges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74336" y="4343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สี violet / cyan / pink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category ของแต่ละ feature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86016" y="3977640"/>
            <a:ext cx="2011680" cy="10972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86016" y="3977640"/>
            <a:ext cx="50292" cy="10972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50608" y="40507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Mock Card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50608" y="4343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card ซ้อนกัน 2 ชั้น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ambient glow หลายสี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1148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FOOTER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Island Footer</a:t>
            </a:r>
            <a:endParaRPr lang="en-US" sz="3000" dirty="0"/>
          </a:p>
        </p:txBody>
      </p:sp>
      <p:pic>
        <p:nvPicPr>
          <p:cNvPr id="5" name="Image 0" descr="/sessions/youthful-confident-johnson/screens/05_foo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423160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188720"/>
            <a:ext cx="822960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794760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794760"/>
            <a:ext cx="5029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8679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Concept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4123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"Footer" ไม่ชิดขอบหน้าจอ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margin: 16px รอบด้าน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ให้ดู premium เหมือน card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64992" y="3794760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4992" y="3794760"/>
            <a:ext cx="50292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9584" y="38679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คอลัมน์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29584" y="4123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Product + Company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Legal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จัดเรียงด้วย CSS Grid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72784" y="3794760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3794760"/>
            <a:ext cx="50292" cy="658368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38679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Buttons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37376" y="41239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แบบ glassmorphic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LinkedIn, Instagram, YouTube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translateY(-2px)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4544568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544568"/>
            <a:ext cx="5029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4617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Top-edge Highlight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4873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inset 0 1px 0 rgba(255,255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,255,0.08) บนขอบบน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สร้างมิติให้ footer card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364992" y="4544568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64992" y="4544568"/>
            <a:ext cx="50292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29584" y="4617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Badges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529584" y="4873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GDPR, Version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แสดงความน่าเชื่อถือ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bdg-bg + bdg-b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272784" y="4544568"/>
            <a:ext cx="2724912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72784" y="4544568"/>
            <a:ext cx="50292" cy="658368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37376" y="4617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Effect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37376" y="4873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blur(40px)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saturate(180%) heavy layer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rgba(255,255,255,0.12)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4572000"/>
          </a:xfrm>
          <a:prstGeom prst="ellipse">
            <a:avLst/>
          </a:prstGeom>
          <a:solidFill>
            <a:srgbClr val="4C1D95">
              <a:alpha val="3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LIGHT / DARK MODE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Theme 2 โหมด</a:t>
            </a:r>
            <a:endParaRPr lang="en-US" sz="3000" dirty="0"/>
          </a:p>
        </p:txBody>
      </p:sp>
      <p:pic>
        <p:nvPicPr>
          <p:cNvPr id="5" name="Image 0" descr="/sessions/youthful-confident-johnson/screens/03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4160520" cy="3127248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207008"/>
            <a:ext cx="4160520" cy="31272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298448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4C1D95">
              <a:alpha val="80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900" dirty="0"/>
          </a:p>
        </p:txBody>
      </p:sp>
      <p:pic>
        <p:nvPicPr>
          <p:cNvPr id="9" name="Image 1" descr="/sessions/youthful-confident-johnson/screens/06_li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07008"/>
            <a:ext cx="4160520" cy="3127248"/>
          </a:xfrm>
          <a:prstGeom prst="rect">
            <a:avLst/>
          </a:prstGeom>
          <a:effectLst>
            <a:outerShdw sx="100000" sy="100000" kx="0" ky="0" algn="bl" rotWithShape="0" blurRad="254000" dist="76200" dir="8100000">
              <a:srgbClr val="000000">
                <a:alpha val="45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754880" y="1207008"/>
            <a:ext cx="4160520" cy="31272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298448"/>
            <a:ext cx="1371600" cy="274320"/>
          </a:xfrm>
          <a:prstGeom prst="roundRect">
            <a:avLst>
              <a:gd name="adj" fmla="val 40000"/>
            </a:avLst>
          </a:prstGeom>
          <a:solidFill>
            <a:srgbClr val="0C4A6E">
              <a:alpha val="8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3776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solidFill>
            <a:srgbClr val="0E0C22">
              <a:alpha val="95000"/>
            </a:srgbClr>
          </a:solidFill>
          <a:ln w="12700">
            <a:solidFill>
              <a:srgbClr val="7C6FF7">
                <a:alpha val="28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4480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880360" y="4480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806440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008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880360" y="4754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#03020d (deep space)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80644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#eeeaf8 (lavender)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4008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Colors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880360" y="4754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violet/cyan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80644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 soft tones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4008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Effect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2880360" y="4754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rgba(255,255,255,0.06)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80644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rgba(255,255,255,0.45)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40080" y="4754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2880360" y="4754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rgba(255,255,255,0.95)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5806440" y="4754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rgba(15,12,40,0.88)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4572000" cy="41148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ANIMATIONS &amp; INTERACTIONS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ลูกเล่นที่ทำให้เว็บมีชีวิต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0292" cy="160020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89888"/>
            <a:ext cx="347472" cy="347472"/>
          </a:xfrm>
          <a:prstGeom prst="ellipse">
            <a:avLst/>
          </a:prstGeom>
          <a:solidFill>
            <a:srgbClr val="7C6FF7">
              <a:alpha val="50000"/>
            </a:srgbClr>
          </a:solidFill>
          <a:ln w="12700">
            <a:solidFill>
              <a:srgbClr val="7C6FF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38988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Float Animation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6276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ลอยแบบ organic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188366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3852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float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+ scale ช้าๆ 18–26 วินาที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delay ทำให้ดูธรรมชาติ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28016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1280160"/>
            <a:ext cx="50292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1389888"/>
            <a:ext cx="347472" cy="347472"/>
          </a:xfrm>
          <a:prstGeom prst="ellips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6784" y="138988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Parallax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6784" y="16276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ตามเมาส์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29584" y="188366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193852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mousemove → mx/my offset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Blob-1: ×0.6  Blob-2: ×0.4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Blob-3: ×0.3 ทิศทางต่างกัน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72784" y="128016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1280160"/>
            <a:ext cx="50292" cy="160020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1389888"/>
            <a:ext cx="347472" cy="347472"/>
          </a:xfrm>
          <a:prstGeom prst="ellipse">
            <a:avLst/>
          </a:prstGeom>
          <a:solidFill>
            <a:srgbClr val="E879A6">
              <a:alpha val="50000"/>
            </a:srgbClr>
          </a:solidFill>
          <a:ln w="12700">
            <a:solidFill>
              <a:srgbClr val="E879A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138988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Darkening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16276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เข้มเมื่อ scroll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37376" y="188366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193852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 &gt; 40px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bg → rgba(10,8,30, 0.72)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all 0.4s ease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63240"/>
            <a:ext cx="50292" cy="160020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172968"/>
            <a:ext cx="347472" cy="347472"/>
          </a:xfrm>
          <a:prstGeom prst="ellipse">
            <a:avLst/>
          </a:prstGeom>
          <a:solidFill>
            <a:srgbClr val="7C6FF7">
              <a:alpha val="50000"/>
            </a:srgbClr>
          </a:solidFill>
          <a:ln w="12700">
            <a:solidFill>
              <a:srgbClr val="7C6FF7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" y="317296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Hover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" y="34107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ลอยขึ้นเมื่อชี้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" y="366674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72160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translateY(-4px)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เพิ่มขึ้น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border-color สว่างขึ้น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64992" y="306324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3063240"/>
            <a:ext cx="50292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9584" y="3172968"/>
            <a:ext cx="347472" cy="347472"/>
          </a:xfrm>
          <a:prstGeom prst="ellipse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9584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86784" y="317296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Toggle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86784" y="34107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switch แบบ spring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29584" y="366674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9584" y="372160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cubic-bezier(0.34,1.56,0.64,1)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swap ☾ ↔ 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บันทึก preference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72784" y="3063240"/>
            <a:ext cx="2724912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72784" y="3063240"/>
            <a:ext cx="50292" cy="160020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7376" y="3172968"/>
            <a:ext cx="347472" cy="347472"/>
          </a:xfrm>
          <a:prstGeom prst="ellipse">
            <a:avLst/>
          </a:prstGeom>
          <a:solidFill>
            <a:srgbClr val="E879A6">
              <a:alpha val="50000"/>
            </a:srgbClr>
          </a:solidFill>
          <a:ln w="12700">
            <a:solidFill>
              <a:srgbClr val="E879A6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94576" y="317296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Click Effect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94576" y="34107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ตอน toggle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37376" y="3666744"/>
            <a:ext cx="2395728" cy="137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3721608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.ripple-el div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rippleOut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scale(0→6), opacity fade 0.55s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029200"/>
          </a:xfrm>
          <a:prstGeom prst="ellipse">
            <a:avLst/>
          </a:prstGeom>
          <a:solidFill>
            <a:srgbClr val="4C1D95">
              <a:alpha val="38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ขั้นตอนต่อไป →</a:t>
            </a:r>
            <a:endParaRPr lang="en-US" sz="3600" dirty="0"/>
          </a:p>
        </p:txBody>
      </p:sp>
      <p:pic>
        <p:nvPicPr>
          <p:cNvPr id="6" name="Image 0" descr="/sessions/youthful-confident-johnson/screens/01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920240" cy="1280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858000" y="457200"/>
            <a:ext cx="192024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8988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89888"/>
            <a:ext cx="50292" cy="10058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481328"/>
            <a:ext cx="329184" cy="329184"/>
          </a:xfrm>
          <a:prstGeom prst="ellipse">
            <a:avLst/>
          </a:prstGeom>
          <a:solidFill>
            <a:srgbClr val="7C6FF7">
              <a:alpha val="48000"/>
            </a:srgbClr>
          </a:solidFill>
          <a:ln w="12700">
            <a:solidFill>
              <a:srgbClr val="7C6FF7">
                <a:alpha val="5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24128" y="14813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 Brand Identity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17739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 Brand, สี Accent, โลโก้ สุดท้าย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ก่อนเริ่ม dev ทุกอย่างควรล็อก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24128" y="215798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7C6FF7">
              <a:alpha val="30000"/>
            </a:srgbClr>
          </a:solidFill>
          <a:ln w="12700">
            <a:solidFill>
              <a:srgbClr val="7C6FF7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21579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828032" y="138988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28032" y="1389888"/>
            <a:ext cx="50292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65192" y="1481328"/>
            <a:ext cx="329184" cy="329184"/>
          </a:xfrm>
          <a:prstGeom prst="ellipse">
            <a:avLst/>
          </a:prstGeom>
          <a:solidFill>
            <a:srgbClr val="22D3EE">
              <a:alpha val="48000"/>
            </a:srgbClr>
          </a:solidFill>
          <a:ln w="12700">
            <a:solidFill>
              <a:srgbClr val="22D3EE">
                <a:alpha val="5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65192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0" y="14813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tokens.css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94960" y="17739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CSS custom properties ทั้งหมด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แชร์ไฟล์เดียวกันทั้งทีม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94960" y="215798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21579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257860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2578608"/>
            <a:ext cx="50292" cy="10058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2670048"/>
            <a:ext cx="329184" cy="329184"/>
          </a:xfrm>
          <a:prstGeom prst="ellipse">
            <a:avLst/>
          </a:prstGeom>
          <a:solidFill>
            <a:srgbClr val="E879A6">
              <a:alpha val="48000"/>
            </a:srgbClr>
          </a:solidFill>
          <a:ln w="12700">
            <a:solidFill>
              <a:srgbClr val="E879A6">
                <a:alpha val="5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24128" y="26700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Glass Utilities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24128" y="29626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.glass + .glass-heavy + blob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shared foundation ก่อนทำ Component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24128" y="334670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E879A6">
              <a:alpha val="30000"/>
            </a:srgbClr>
          </a:solidFill>
          <a:ln w="12700">
            <a:solidFill>
              <a:srgbClr val="E879A6">
                <a:alpha val="4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4128" y="33467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828032" y="257860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28032" y="2578608"/>
            <a:ext cx="50292" cy="10058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65192" y="2670048"/>
            <a:ext cx="329184" cy="329184"/>
          </a:xfrm>
          <a:prstGeom prst="ellipse">
            <a:avLst/>
          </a:prstGeom>
          <a:solidFill>
            <a:srgbClr val="7C6FF7">
              <a:alpha val="48000"/>
            </a:srgbClr>
          </a:solidFill>
          <a:ln w="12700">
            <a:solidFill>
              <a:srgbClr val="7C6FF7">
                <a:alpha val="5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65192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94960" y="26700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Review Meeting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94960" y="29626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ทีมรีวิว spec ทุก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 sprint kickoff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394960" y="334670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7C6FF7">
              <a:alpha val="30000"/>
            </a:srgbClr>
          </a:solidFill>
          <a:ln w="12700">
            <a:solidFill>
              <a:srgbClr val="7C6FF7">
                <a:alpha val="48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94960" y="33467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57200" y="376732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57200" y="3767328"/>
            <a:ext cx="50292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" y="3858768"/>
            <a:ext cx="329184" cy="329184"/>
          </a:xfrm>
          <a:prstGeom prst="ellipse">
            <a:avLst/>
          </a:prstGeom>
          <a:solidFill>
            <a:srgbClr val="22D3EE">
              <a:alpha val="48000"/>
            </a:srgbClr>
          </a:solidFill>
          <a:ln w="12700">
            <a:solidFill>
              <a:srgbClr val="22D3EE">
                <a:alpha val="52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24128" y="3858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QA Checkpoint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024128" y="41513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collapses ที่ 768px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responsive midpoint Phase 2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024128" y="453542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48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24128" y="45354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Design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4828032" y="3767328"/>
            <a:ext cx="411480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828032" y="3767328"/>
            <a:ext cx="50292" cy="10058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65192" y="3858768"/>
            <a:ext cx="329184" cy="329184"/>
          </a:xfrm>
          <a:prstGeom prst="ellipse">
            <a:avLst/>
          </a:prstGeom>
          <a:solidFill>
            <a:srgbClr val="E879A6">
              <a:alpha val="48000"/>
            </a:srgbClr>
          </a:solidFill>
          <a:ln w="12700">
            <a:solidFill>
              <a:srgbClr val="E879A6">
                <a:alpha val="52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96519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394960" y="3858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Iterate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394960" y="41513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หลัง Phase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หลัง Phase 3 QA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394960" y="453542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E879A6">
              <a:alpha val="30000"/>
            </a:srgbClr>
          </a:solidFill>
          <a:ln w="12700">
            <a:solidFill>
              <a:srgbClr val="E879A6">
                <a:alpha val="48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94960" y="45354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Ops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Glassmorphism Website — คู่มือทีม</dc:title>
  <dc:subject>PptxGenJS Presentation</dc:subject>
  <dc:creator>Design Team</dc:creator>
  <cp:lastModifiedBy>Design Team</cp:lastModifiedBy>
  <cp:revision>1</cp:revision>
  <dcterms:created xsi:type="dcterms:W3CDTF">2026-03-26T17:42:22Z</dcterms:created>
  <dcterms:modified xsi:type="dcterms:W3CDTF">2026-03-26T17:42:22Z</dcterms:modified>
</cp:coreProperties>
</file>