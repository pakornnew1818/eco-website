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5029200" cy="4114800"/>
          </a:xfrm>
          <a:prstGeom prst="ellipse">
            <a:avLst/>
          </a:prstGeom>
          <a:solidFill>
            <a:srgbClr val="4C1D95">
              <a:alpha val="38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3200400"/>
          </a:xfrm>
          <a:prstGeom prst="ellipse">
            <a:avLst/>
          </a:prstGeom>
          <a:solidFill>
            <a:srgbClr val="0C4A6E">
              <a:alpha val="35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3200400"/>
            <a:ext cx="3657600" cy="2743200"/>
          </a:xfrm>
          <a:prstGeom prst="ellipse">
            <a:avLst/>
          </a:prstGeom>
          <a:solidFill>
            <a:srgbClr val="831843">
              <a:alpha val="30000"/>
            </a:srgbClr>
          </a:solidFill>
          <a:ln w="12700">
            <a:solidFill>
              <a:srgbClr val="83184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8229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822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</a:rPr>
              <a:t>TEAM BRIEFING  ·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
</a:t>
            </a:r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Design System · Component Specs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4005072"/>
            <a:ext cx="2743200" cy="13716"/>
          </a:xfrm>
          <a:prstGeom prst="rect">
            <a:avLst/>
          </a:prstGeom>
          <a:solidFill>
            <a:srgbClr val="7C6FF7">
              <a:alpha val="60000"/>
            </a:srgbClr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4206240"/>
            <a:ext cx="1645920" cy="685800"/>
          </a:xfrm>
          <a:prstGeom prst="rect">
            <a:avLst/>
          </a:prstGeom>
          <a:solidFill>
            <a:srgbClr val="0E0C22">
              <a:alpha val="85000"/>
            </a:srgbClr>
          </a:solidFill>
          <a:ln w="12700">
            <a:solidFill>
              <a:srgbClr val="7C6FF7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4224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4526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4206240"/>
            <a:ext cx="1645920" cy="685800"/>
          </a:xfrm>
          <a:prstGeom prst="rect">
            <a:avLst/>
          </a:prstGeom>
          <a:solidFill>
            <a:srgbClr val="0E0C22">
              <a:alpha val="85000"/>
            </a:srgbClr>
          </a:solidFill>
          <a:ln w="12700">
            <a:solidFill>
              <a:srgbClr val="7C6FF7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4224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4526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4206240"/>
            <a:ext cx="1645920" cy="685800"/>
          </a:xfrm>
          <a:prstGeom prst="rect">
            <a:avLst/>
          </a:prstGeom>
          <a:solidFill>
            <a:srgbClr val="0E0C22">
              <a:alpha val="85000"/>
            </a:srgbClr>
          </a:solidFill>
          <a:ln w="12700">
            <a:solidFill>
              <a:srgbClr val="7C6FF7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4224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4526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C4A6E">
              <a:alpha val="28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84048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54864" cy="6583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99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792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palette, glass recipe, typography &amp; spacing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384048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67712"/>
            <a:ext cx="54864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5968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glass pill — scroll behavior &amp; CTA button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72384"/>
            <a:ext cx="384048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072384"/>
            <a:ext cx="54864" cy="658368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depth, eyebrow badge, floating cards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877056"/>
            <a:ext cx="384048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877056"/>
            <a:ext cx="54864" cy="6583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3913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island — brand col, links &amp; badges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463040"/>
            <a:ext cx="384048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463040"/>
            <a:ext cx="54864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499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Interactions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13248" y="1792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float, parallax mouse, spring animations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267712"/>
            <a:ext cx="384048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267712"/>
            <a:ext cx="54864" cy="658368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13248" y="25968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system, localStorage, cinematic transitions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072384"/>
            <a:ext cx="3840480" cy="658368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072384"/>
            <a:ext cx="54864" cy="658368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108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3248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Roadmap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13248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breakdown &amp; team deliverables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914400"/>
            <a:ext cx="4572000" cy="4572000"/>
          </a:xfrm>
          <a:prstGeom prst="ellipse">
            <a:avLst/>
          </a:prstGeom>
          <a:solidFill>
            <a:srgbClr val="4C1D95">
              <a:alpha val="32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DESIGN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&amp; Glass Recipe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078992" cy="685800"/>
          </a:xfrm>
          <a:prstGeom prst="rect">
            <a:avLst/>
          </a:prstGeom>
          <a:solidFill>
            <a:srgbClr val="03020D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103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23408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#03020d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19072" y="1371600"/>
            <a:ext cx="1078992" cy="685800"/>
          </a:xfrm>
          <a:prstGeom prst="rect">
            <a:avLst/>
          </a:prstGeom>
          <a:solidFill>
            <a:srgbClr val="4C1D95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19072" y="2103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Violet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19072" y="23408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#4c1d95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35224" y="1371600"/>
            <a:ext cx="1078992" cy="685800"/>
          </a:xfrm>
          <a:prstGeom prst="rect">
            <a:avLst/>
          </a:prstGeom>
          <a:solidFill>
            <a:srgbClr val="0C4A6E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35224" y="2103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Blue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35224" y="23408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#0c4a6e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51376" y="1371600"/>
            <a:ext cx="1078992" cy="685800"/>
          </a:xfrm>
          <a:prstGeom prst="rect">
            <a:avLst/>
          </a:prstGeom>
          <a:solidFill>
            <a:srgbClr val="831843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51376" y="2103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Pink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51376" y="23408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#831843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67528" y="1371600"/>
            <a:ext cx="1078992" cy="685800"/>
          </a:xfrm>
          <a:prstGeom prst="rect">
            <a:avLst/>
          </a:prstGeom>
          <a:solidFill>
            <a:srgbClr val="7C6FF7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67528" y="2103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Primary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67528" y="23408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#7c6ff7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0" y="1371600"/>
            <a:ext cx="1078992" cy="685800"/>
          </a:xfrm>
          <a:prstGeom prst="rect">
            <a:avLst/>
          </a:prstGeom>
          <a:solidFill>
            <a:srgbClr val="22D3EE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103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Cyan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0" y="23408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#22d3ee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99832" y="1371600"/>
            <a:ext cx="1078992" cy="685800"/>
          </a:xfrm>
          <a:prstGeom prst="rect">
            <a:avLst/>
          </a:prstGeom>
          <a:solidFill>
            <a:srgbClr val="E879A6"/>
          </a:solidFill>
          <a:ln w="12700">
            <a:solidFill>
              <a:srgbClr val="1A1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99832" y="2103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Pink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99832" y="23408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#e879a6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2971800"/>
            <a:ext cx="4023360" cy="17830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71800"/>
            <a:ext cx="54864" cy="178308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Effect Recipe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rgba(255,255,255, 0.06)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backdrop-filter: blur(24px) saturate(160%)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1px solid rgba(255,255,255, 0.12)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" y="4270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Deeper layers: blur(40px)  saturate(180%)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971800"/>
            <a:ext cx="3886200" cy="178308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71800"/>
            <a:ext cx="54864" cy="1783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&amp; Spacing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Fonts: Sora (headings) + DM Sans (body)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19472" y="3666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title: clamp(42px → 80px) weight 800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19472" y="3968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letter-spacing: -2px  |  line-height: 1.08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19472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text: white → violet → cyan gradient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200400" cy="2743200"/>
          </a:xfrm>
          <a:prstGeom prst="ellipse">
            <a:avLst/>
          </a:prstGeom>
          <a:solidFill>
            <a:srgbClr val="4C1D95">
              <a:alpha val="28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NAVIGATION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Glass Pill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658368"/>
          </a:xfrm>
          <a:prstGeom prst="roundRect">
            <a:avLst>
              <a:gd name="adj" fmla="val 25000"/>
            </a:avLst>
          </a:prstGeom>
          <a:solidFill>
            <a:srgbClr val="0A0820">
              <a:alpha val="8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44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Brand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481328"/>
            <a:ext cx="777240" cy="438912"/>
          </a:xfrm>
          <a:prstGeom prst="roundRect">
            <a:avLst>
              <a:gd name="adj" fmla="val 20833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148132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01568" y="148132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07408" y="148132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13248" y="148132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19088" y="148132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481328"/>
            <a:ext cx="1097280" cy="420624"/>
          </a:xfrm>
          <a:prstGeom prst="roundRect">
            <a:avLst>
              <a:gd name="adj" fmla="val 26087"/>
            </a:avLst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48132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59168" y="1508760"/>
            <a:ext cx="384048" cy="36576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15087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331720"/>
            <a:ext cx="4023360" cy="105156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31720"/>
            <a:ext cx="50292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Pill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27157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fixed  top: 20px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1100px  border-radius: 20px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full-width — floats above content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4023360" cy="105156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331720"/>
            <a:ext cx="50292" cy="105156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Darkening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27157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 &gt; 40px triggers: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→ rgba(10,8,30, 0.72)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→ rgba(255,255,255, 0.10)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566160"/>
            <a:ext cx="4023360" cy="105156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566160"/>
            <a:ext cx="50292" cy="105156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 violet → #5b4dd1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box-shadow: violet glow 0.4 opacity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Hover: translateY(-1px) + deeper glow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023360" cy="105156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66160"/>
            <a:ext cx="50292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10912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animation cubic-bezier(0.34,1.56)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swap ☾ → ☀ with glow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preference saved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114800"/>
          </a:xfrm>
          <a:prstGeom prst="ellipse">
            <a:avLst/>
          </a:prstGeom>
          <a:solidFill>
            <a:srgbClr val="4C1D95">
              <a:alpha val="3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3657600" cy="3200400"/>
          </a:xfrm>
          <a:prstGeom prst="ellipse">
            <a:avLst/>
          </a:prstGeom>
          <a:solidFill>
            <a:srgbClr val="0C4A6E">
              <a:alpha val="32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3474720"/>
            <a:ext cx="3200400" cy="2560320"/>
          </a:xfrm>
          <a:prstGeom prst="ellipse">
            <a:avLst/>
          </a:prstGeom>
          <a:solidFill>
            <a:srgbClr val="831843">
              <a:alpha val="30000"/>
            </a:srgbClr>
          </a:solidFill>
          <a:ln w="12700">
            <a:solidFill>
              <a:srgbClr val="83184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HERO SECTION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Depth Experience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6576" cy="7772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5806440" cy="777240"/>
          </a:xfrm>
          <a:prstGeom prst="rect">
            <a:avLst/>
          </a:prstGeom>
          <a:solidFill>
            <a:srgbClr val="4C1D95">
              <a:alpha val="45000"/>
            </a:srgbClr>
          </a:solidFill>
          <a:ln w="12700">
            <a:solidFill>
              <a:srgbClr val="7C6FF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490472"/>
            <a:ext cx="347472" cy="347472"/>
          </a:xfrm>
          <a:prstGeom prst="ellipse">
            <a:avLst/>
          </a:prstGeom>
          <a:solidFill>
            <a:srgbClr val="7C6FF7">
              <a:alpha val="70000"/>
            </a:srgbClr>
          </a:solidFill>
          <a:ln w="12700">
            <a:solidFill>
              <a:srgbClr val="7C6FF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399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Background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7099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bg-mesh radial gradients + animated blobs (float + parallax)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36576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12848"/>
            <a:ext cx="5806440" cy="777240"/>
          </a:xfrm>
          <a:prstGeom prst="rect">
            <a:avLst/>
          </a:prstGeom>
          <a:solidFill>
            <a:srgbClr val="0C4A6E">
              <a:alpha val="4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377440"/>
            <a:ext cx="347472" cy="34747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286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Mesh Gradient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5968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radial-gradient overlays blending violet / cyan / pink ambient light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99816"/>
            <a:ext cx="36576" cy="7772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99816"/>
            <a:ext cx="5806440" cy="777240"/>
          </a:xfrm>
          <a:prstGeom prst="rect">
            <a:avLst/>
          </a:prstGeom>
          <a:solidFill>
            <a:srgbClr val="3D2E8C">
              <a:alpha val="45000"/>
            </a:srgbClr>
          </a:solidFill>
          <a:ln w="12700">
            <a:solidFill>
              <a:srgbClr val="7C6FF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64408"/>
            <a:ext cx="347472" cy="347472"/>
          </a:xfrm>
          <a:prstGeom prst="ellipse">
            <a:avLst/>
          </a:prstGeom>
          <a:solidFill>
            <a:srgbClr val="7C6FF7">
              <a:alpha val="70000"/>
            </a:srgbClr>
          </a:solidFill>
          <a:ln w="12700">
            <a:solidFill>
              <a:srgbClr val="7C6FF7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172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Hero Content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4838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 badge  →  H1 gradient headline  →  sub-copy  →  CTA buttons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986784"/>
            <a:ext cx="36576" cy="77724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986784"/>
            <a:ext cx="5806440" cy="777240"/>
          </a:xfrm>
          <a:prstGeom prst="rect">
            <a:avLst/>
          </a:prstGeom>
          <a:solidFill>
            <a:srgbClr val="831843">
              <a:alpha val="45000"/>
            </a:srgbClr>
          </a:solidFill>
          <a:ln w="12700">
            <a:solidFill>
              <a:srgbClr val="E879A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151376"/>
            <a:ext cx="347472" cy="347472"/>
          </a:xfrm>
          <a:prstGeom prst="ellipse">
            <a:avLst/>
          </a:prstGeom>
          <a:solidFill>
            <a:srgbClr val="E879A6">
              <a:alpha val="70000"/>
            </a:srgbClr>
          </a:solidFill>
          <a:ln w="12700">
            <a:solidFill>
              <a:srgbClr val="E879A6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0599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·  Floating Cards (Front)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43708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glass cards offset by -20px vertically — creating Z-depth illusion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37960" y="1188720"/>
            <a:ext cx="2194560" cy="3474720"/>
          </a:xfrm>
          <a:prstGeom prst="rect">
            <a:avLst/>
          </a:prstGeom>
          <a:solidFill>
            <a:srgbClr val="0E0C22">
              <a:alpha val="85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0840" y="1371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3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New Experience Awaits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675120" y="17373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75120" y="2395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Air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56832" y="3310128"/>
            <a:ext cx="640080" cy="749808"/>
          </a:xfrm>
          <a:prstGeom prst="rect">
            <a:avLst/>
          </a:prstGeom>
          <a:solidFill>
            <a:srgbClr val="0E0C22">
              <a:alpha val="92000"/>
            </a:srgbClr>
          </a:solidFill>
          <a:ln w="12700">
            <a:solidFill>
              <a:srgbClr val="7C6FF7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56832" y="33558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6FF7"/>
                </a:solidFill>
              </a:rPr>
              <a:t>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56832" y="37124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7370064" y="3145536"/>
            <a:ext cx="640080" cy="749808"/>
          </a:xfrm>
          <a:prstGeom prst="rect">
            <a:avLst/>
          </a:prstGeom>
          <a:solidFill>
            <a:srgbClr val="0E0C22">
              <a:alpha val="92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70064" y="31912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</a:rPr>
              <a:t>◎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70064" y="3547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8083296" y="3310128"/>
            <a:ext cx="640080" cy="749808"/>
          </a:xfrm>
          <a:prstGeom prst="rect">
            <a:avLst/>
          </a:prstGeom>
          <a:solidFill>
            <a:srgbClr val="0E0C22">
              <a:alpha val="92000"/>
            </a:srgbClr>
          </a:solidFill>
          <a:ln w="12700">
            <a:solidFill>
              <a:srgbClr val="E879A6">
                <a:alpha val="28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083296" y="33558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79A6"/>
                </a:solidFill>
              </a:rPr>
              <a:t>◈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83296" y="37124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3657600"/>
          </a:xfrm>
          <a:prstGeom prst="ellipse">
            <a:avLst/>
          </a:prstGeom>
          <a:solidFill>
            <a:srgbClr val="831843">
              <a:alpha val="28000"/>
            </a:srgbClr>
          </a:solidFill>
          <a:ln w="12700">
            <a:solidFill>
              <a:srgbClr val="8318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7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FOOTER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Island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138160" cy="347472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6B6A8A">
                <a:alpha val="50000"/>
              </a:srgbClr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1252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boundary (margin 16px on all sides)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7772400" cy="3063240"/>
          </a:xfrm>
          <a:prstGeom prst="roundRect">
            <a:avLst>
              <a:gd name="adj" fmla="val 6567"/>
            </a:avLst>
          </a:prstGeom>
          <a:solidFill>
            <a:srgbClr val="0A0820">
              <a:alpha val="85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463040"/>
            <a:ext cx="7772400" cy="3657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642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Brand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digital experiences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feel light as glass.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54203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C8"/>
                </a:solidFill>
              </a:rPr>
              <a:t>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35024" y="254203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C8"/>
                </a:solidFill>
              </a:rPr>
              <a:t>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55648" y="254203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C8"/>
                </a:solidFill>
              </a:rPr>
              <a:t>ig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76272" y="254203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EC8"/>
                </a:solidFill>
              </a:rPr>
              <a:t>yt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1664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17520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596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28712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31455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664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596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8712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Kit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31455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1664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2322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2596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Policy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28712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4096512"/>
            <a:ext cx="7772400" cy="3657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Brand Inc. All rights reserved.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89320" y="4133088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4133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903720" y="4133088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4133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818120" y="4133088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4133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v2.4.0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114800" cy="3657600"/>
          </a:xfrm>
          <a:prstGeom prst="ellipse">
            <a:avLst/>
          </a:prstGeom>
          <a:solidFill>
            <a:srgbClr val="0C4A6E">
              <a:alpha val="30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MOTION &amp; INTERACTIONS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That Give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97480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50292" cy="160020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17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Float Animation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172821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float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→ translate(0,0) scale(1)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→ translate(30px,-40px) scale(1.05)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→ translate(-20px,30px) scale(0.95)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18–26s per blob, staggered delays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2697480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25880"/>
            <a:ext cx="50292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417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Parallax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47872" y="172821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mousemove event calculates mx/my offset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Blob-1: translate(mx×0.6, my×0.6)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Blob-2: translate(-mx×0.4, my×0.4)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Blob-3: translate(mx×0.3, -my×0.5)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2697480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325880"/>
            <a:ext cx="50292" cy="160020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417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Scroll Behavior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172821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 &gt; 40px triggers style update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rgba(10,8,30, 0.72)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border-color: rgba(255,255,255, 0.10)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all 0.4s ease on all props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2697480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154680"/>
            <a:ext cx="50292" cy="160020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Hover &amp; CTA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" y="355701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Cards: translateY(-4px) + heavier shadow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 primary: translateY(-2px) glow 0.55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CTA: translateY(-1px) scale(1.06)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 ripple on click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3154680"/>
            <a:ext cx="2697480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54680"/>
            <a:ext cx="50292" cy="160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 Badge Pulse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47872" y="355701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pulse on indicator dot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0%/100%: opacity 1, scale(1)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50%: opacity 0.5, scale(1.4)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2s ease-in-out infinite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3154680"/>
            <a:ext cx="2697480" cy="16002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3154680"/>
            <a:ext cx="50292" cy="160020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3246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Click Effect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8232" y="3557016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theme toggle click: inject .ripple-el div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rippleOut scale(0→6), opacity(0.45→0)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0.55s ease-out, then remove element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4572000"/>
          </a:xfrm>
          <a:prstGeom prst="ellipse">
            <a:avLst/>
          </a:prstGeom>
          <a:solidFill>
            <a:srgbClr val="4C1D95">
              <a:alpha val="32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LIGHT / DARK MODE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Worlds, One Codebase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31920" cy="342900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3931920" cy="4572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#03020d → #07061a  (deep space)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203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22037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violet / blue / pink  opacity 0.35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532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2532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 0.06)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862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border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2862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 0.12)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1912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3191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8px 32px rgba(0,0,0, 0.30)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3520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 0.95)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8496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secondary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74520" y="3849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 0.55)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178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scroll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rgba(10,8,30, 0.72)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325880"/>
            <a:ext cx="3931920" cy="3429000"/>
          </a:xfrm>
          <a:prstGeom prst="rect">
            <a:avLst/>
          </a:prstGeom>
          <a:solidFill>
            <a:srgbClr val="F5F3FF">
              <a:alpha val="92000"/>
            </a:srgbClr>
          </a:solidFill>
          <a:ln w="12700">
            <a:solidFill>
              <a:srgbClr val="22D3EE">
                <a:alpha val="40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325880"/>
            <a:ext cx="39319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17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A1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#eeeaf8  (lavender — not plain white)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2037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2203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Pastel violet / cyan / pink  opacity 0.60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2532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5328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rgba(255,255,255, 0.50) — frosted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862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border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2862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rgba(0,0,0, 0.08)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3191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8px 32px rgba(100,80,200, 0.09)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3520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rgba(15,12,40, 0.88)  (dark navy)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849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secondary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3849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rgba(15,12,40, 0.50)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178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scroll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2200" y="4178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rgba(245,243,255, 0.85)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4572000" cy="3657600"/>
          </a:xfrm>
          <a:prstGeom prst="ellipse">
            <a:avLst/>
          </a:prstGeom>
          <a:solidFill>
            <a:srgbClr val="0C4A6E">
              <a:alpha val="32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DEVELOPMENT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Build Plan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8138160" cy="27432"/>
          </a:xfrm>
          <a:prstGeom prst="rect">
            <a:avLst/>
          </a:prstGeom>
          <a:solidFill>
            <a:srgbClr val="7C6FF7">
              <a:alpha val="40000"/>
            </a:srgbClr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755648"/>
            <a:ext cx="292608" cy="292608"/>
          </a:xfrm>
          <a:prstGeom prst="ellipse">
            <a:avLst/>
          </a:prstGeom>
          <a:solidFill>
            <a:srgbClr val="7C6FF7"/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48840"/>
            <a:ext cx="2651760" cy="2651760"/>
          </a:xfrm>
          <a:prstGeom prst="rect">
            <a:avLst/>
          </a:prstGeom>
          <a:solidFill>
            <a:srgbClr val="0E0C22">
              <a:alpha val="92000"/>
            </a:srgbClr>
          </a:solidFill>
          <a:ln w="12700">
            <a:solidFill>
              <a:srgbClr val="7C6FF7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48840"/>
            <a:ext cx="2651760" cy="50292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2267712"/>
            <a:ext cx="749808" cy="237744"/>
          </a:xfrm>
          <a:prstGeom prst="roundRect">
            <a:avLst>
              <a:gd name="adj" fmla="val 30769"/>
            </a:avLst>
          </a:prstGeom>
          <a:solidFill>
            <a:srgbClr val="7C6FF7">
              <a:alpha val="28000"/>
            </a:srgbClr>
          </a:solidFill>
          <a:ln w="12700">
            <a:solidFill>
              <a:srgbClr val="7C6FF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2677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0936" y="2578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" y="3072384"/>
            <a:ext cx="91440" cy="91440"/>
          </a:xfrm>
          <a:prstGeom prst="ellipse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29900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design tokens &amp; CSS custom properties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" y="3456432"/>
            <a:ext cx="91440" cy="91440"/>
          </a:xfrm>
          <a:prstGeom prst="ellipse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3374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bg-mesh + blob animations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" y="3840480"/>
            <a:ext cx="91440" cy="91440"/>
          </a:xfrm>
          <a:prstGeom prst="ellipse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3758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.glass &amp; .glass-heavy utility classes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" y="4224528"/>
            <a:ext cx="91440" cy="91440"/>
          </a:xfrm>
          <a:prstGeom prst="ellipse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41422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+ DM Sans font integration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1560" y="4590288"/>
            <a:ext cx="1536192" cy="256032"/>
          </a:xfrm>
          <a:prstGeom prst="roundRect">
            <a:avLst>
              <a:gd name="adj" fmla="val 28571"/>
            </a:avLst>
          </a:prstGeom>
          <a:solidFill>
            <a:srgbClr val="7C6FF7">
              <a:alpha val="45000"/>
            </a:srgbClr>
          </a:solidFill>
          <a:ln w="12700">
            <a:solidFill>
              <a:srgbClr val="7C6FF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5902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1755648"/>
            <a:ext cx="292608" cy="29260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148840"/>
            <a:ext cx="2651760" cy="2651760"/>
          </a:xfrm>
          <a:prstGeom prst="rect">
            <a:avLst/>
          </a:prstGeom>
          <a:solidFill>
            <a:srgbClr val="0E0C22">
              <a:alpha val="92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148840"/>
            <a:ext cx="265176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2267712"/>
            <a:ext cx="749808" cy="237744"/>
          </a:xfrm>
          <a:prstGeom prst="roundRect">
            <a:avLst>
              <a:gd name="adj" fmla="val 30769"/>
            </a:avLst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2677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7680" y="2286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65576" y="2578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83864" y="307238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48456" y="29900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glass nav pill + scroll behavior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83864" y="345643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48456" y="3374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layered depth cards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83864" y="384048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48456" y="3758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 badge + gradient headline + CTA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83864" y="422452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48456" y="41422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 with spring animation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86200" y="4590288"/>
            <a:ext cx="1536192" cy="256032"/>
          </a:xfrm>
          <a:prstGeom prst="roundRect">
            <a:avLst>
              <a:gd name="adj" fmla="val 28571"/>
            </a:avLst>
          </a:prstGeom>
          <a:solidFill>
            <a:srgbClr val="22D3EE">
              <a:alpha val="4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45902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Build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69480" y="1755648"/>
            <a:ext cx="292608" cy="292608"/>
          </a:xfrm>
          <a:prstGeom prst="ellipse">
            <a:avLst/>
          </a:prstGeom>
          <a:solidFill>
            <a:srgbClr val="E879A6"/>
          </a:solidFill>
          <a:ln w="254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2148840"/>
            <a:ext cx="2651760" cy="2651760"/>
          </a:xfrm>
          <a:prstGeom prst="rect">
            <a:avLst/>
          </a:prstGeom>
          <a:solidFill>
            <a:srgbClr val="0E0C22">
              <a:alpha val="92000"/>
            </a:srgbClr>
          </a:solidFill>
          <a:ln w="12700">
            <a:solidFill>
              <a:srgbClr val="E879A6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2148840"/>
            <a:ext cx="2651760" cy="50292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81928" y="2267712"/>
            <a:ext cx="749808" cy="237744"/>
          </a:xfrm>
          <a:prstGeom prst="roundRect">
            <a:avLst>
              <a:gd name="adj" fmla="val 30769"/>
            </a:avLst>
          </a:prstGeom>
          <a:solidFill>
            <a:srgbClr val="E879A6">
              <a:alpha val="28000"/>
            </a:srgbClr>
          </a:solidFill>
          <a:ln w="12700">
            <a:solidFill>
              <a:srgbClr val="E879A6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1928" y="22677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32320" y="2286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0216" y="25786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Deploy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18504" y="3072384"/>
            <a:ext cx="91440" cy="91440"/>
          </a:xfrm>
          <a:prstGeom prst="ellipse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83096" y="29900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footer island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18504" y="3456432"/>
            <a:ext cx="91440" cy="91440"/>
          </a:xfrm>
          <a:prstGeom prst="ellipse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83096" y="3374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parallax &amp; all hover states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18504" y="3840480"/>
            <a:ext cx="91440" cy="91440"/>
          </a:xfrm>
          <a:prstGeom prst="ellipse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3096" y="3758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dark/light mode CSS var system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18504" y="4224528"/>
            <a:ext cx="91440" cy="91440"/>
          </a:xfrm>
          <a:prstGeom prst="ellipse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83096" y="41422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breakpoints + QA testing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20840" y="4590288"/>
            <a:ext cx="1536192" cy="256032"/>
          </a:xfrm>
          <a:prstGeom prst="roundRect">
            <a:avLst>
              <a:gd name="adj" fmla="val 28571"/>
            </a:avLst>
          </a:prstGeom>
          <a:solidFill>
            <a:srgbClr val="E879A6">
              <a:alpha val="45000"/>
            </a:srgbClr>
          </a:solidFill>
          <a:ln w="12700">
            <a:solidFill>
              <a:srgbClr val="E879A6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0840" y="459028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029200"/>
          </a:xfrm>
          <a:prstGeom prst="ellipse">
            <a:avLst/>
          </a:prstGeom>
          <a:solidFill>
            <a:srgbClr val="4C1D95">
              <a:alpha val="35000"/>
            </a:srgbClr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C4A6E">
              <a:alpha val="30000"/>
            </a:srgbClr>
          </a:solidFill>
          <a:ln w="12700">
            <a:solidFill>
              <a:srgbClr val="0C4A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6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</a:t>
            </a:r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50292" cy="10058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329184" cy="329184"/>
          </a:xfrm>
          <a:prstGeom prst="ellipse">
            <a:avLst/>
          </a:prstGeom>
          <a:solidFill>
            <a:srgbClr val="7C6FF7">
              <a:alpha val="45000"/>
            </a:srgbClr>
          </a:solidFill>
          <a:ln w="12700">
            <a:solidFill>
              <a:srgbClr val="7C6FF7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9848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Brand Identity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1801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final logo, brand name and any palette adjustments before dev starts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69848" y="216712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7C6FF7">
              <a:alpha val="28000"/>
            </a:srgbClr>
          </a:solidFill>
          <a:ln w="12700">
            <a:solidFill>
              <a:srgbClr val="7C6FF7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167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Lead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402336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417320"/>
            <a:ext cx="50292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1508760"/>
            <a:ext cx="329184" cy="329184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13248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Design Tokens 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13248" y="18013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CSS custom properties to a tokens.css file shared across the team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13248" y="216712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2167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2920" y="2606040"/>
            <a:ext cx="402336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606040"/>
            <a:ext cx="50292" cy="100584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697480"/>
            <a:ext cx="329184" cy="329184"/>
          </a:xfrm>
          <a:prstGeom prst="ellipse">
            <a:avLst/>
          </a:prstGeom>
          <a:solidFill>
            <a:srgbClr val="E879A6">
              <a:alpha val="45000"/>
            </a:srgbClr>
          </a:solidFill>
          <a:ln w="12700">
            <a:solidFill>
              <a:srgbClr val="E879A6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9848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Glass Utility 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" y="29900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.glass, .glass-heavy classes + blob layers as the shared foundation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9848" y="335584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E879A6">
              <a:alpha val="28000"/>
            </a:srgbClr>
          </a:solidFill>
          <a:ln w="12700">
            <a:solidFill>
              <a:srgbClr val="E879A6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3355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846320" y="2606040"/>
            <a:ext cx="402336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7C6FF7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606040"/>
            <a:ext cx="50292" cy="1005840"/>
          </a:xfrm>
          <a:prstGeom prst="rect">
            <a:avLst/>
          </a:prstGeom>
          <a:solidFill>
            <a:srgbClr val="7C6FF7"/>
          </a:solidFill>
          <a:ln w="12700">
            <a:solidFill>
              <a:srgbClr val="7C6FF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697480"/>
            <a:ext cx="329184" cy="329184"/>
          </a:xfrm>
          <a:prstGeom prst="ellipse">
            <a:avLst/>
          </a:prstGeom>
          <a:solidFill>
            <a:srgbClr val="7C6FF7">
              <a:alpha val="45000"/>
            </a:srgbClr>
          </a:solidFill>
          <a:ln w="12700">
            <a:solidFill>
              <a:srgbClr val="7C6FF7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13248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Component-by-Component 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29900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walkthrough of each component spec slide before sprint kickoff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13248" y="335584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7C6FF7">
              <a:alpha val="28000"/>
            </a:srgbClr>
          </a:solidFill>
          <a:ln w="12700">
            <a:solidFill>
              <a:srgbClr val="7C6FF7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3355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02920" y="3794760"/>
            <a:ext cx="402336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22D3EE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" y="3794760"/>
            <a:ext cx="50292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3886200"/>
            <a:ext cx="329184" cy="329184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69848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QA Checkpoint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9848" y="4178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mid-Phase 2 mobile breakpoint review — nav collapses at 768px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69848" y="454456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9848" y="4544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Design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846320" y="3794760"/>
            <a:ext cx="4023360" cy="1005840"/>
          </a:xfrm>
          <a:prstGeom prst="rect">
            <a:avLst/>
          </a:prstGeom>
          <a:solidFill>
            <a:srgbClr val="0E0C22">
              <a:alpha val="90000"/>
            </a:srgbClr>
          </a:solidFill>
          <a:ln w="12700">
            <a:solidFill>
              <a:srgbClr val="E879A6">
                <a:alpha val="3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3794760"/>
            <a:ext cx="50292" cy="1005840"/>
          </a:xfrm>
          <a:prstGeom prst="rect">
            <a:avLst/>
          </a:prstGeom>
          <a:solidFill>
            <a:srgbClr val="E879A6"/>
          </a:solidFill>
          <a:ln w="12700">
            <a:solidFill>
              <a:srgbClr val="E879A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3886200"/>
            <a:ext cx="329184" cy="329184"/>
          </a:xfrm>
          <a:prstGeom prst="ellipse">
            <a:avLst/>
          </a:prstGeom>
          <a:solidFill>
            <a:srgbClr val="E879A6">
              <a:alpha val="45000"/>
            </a:srgbClr>
          </a:solidFill>
          <a:ln w="12700">
            <a:solidFill>
              <a:srgbClr val="E879A6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13248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Iterate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13248" y="4178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deploy after Phase 2, production after Phase 3 full QA sign-off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13248" y="454456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E879A6">
              <a:alpha val="28000"/>
            </a:srgbClr>
          </a:solidFill>
          <a:ln w="12700">
            <a:solidFill>
              <a:srgbClr val="E879A6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13248" y="4544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Ops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Glassmorphism Website — Team Roadmap</dc:title>
  <dc:subject>PptxGenJS Presentation</dc:subject>
  <dc:creator>Design Team</dc:creator>
  <cp:lastModifiedBy>Design Team</cp:lastModifiedBy>
  <cp:revision>1</cp:revision>
  <dcterms:created xsi:type="dcterms:W3CDTF">2026-03-25T18:28:01Z</dcterms:created>
  <dcterms:modified xsi:type="dcterms:W3CDTF">2026-03-25T18:28:01Z</dcterms:modified>
</cp:coreProperties>
</file>